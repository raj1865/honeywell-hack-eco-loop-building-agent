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" TargetMode="External"/><Relationship Id="rId3" Type="http://schemas.openxmlformats.org/officeDocument/2006/relationships/hyperlink" Target="https://energyplus.readthedocs.io/en/stable/quick_start/quick_start.html?utm_source=chatgpt.com" TargetMode="External"/><Relationship Id="rId7" Type="http://schemas.openxmlformats.org/officeDocument/2006/relationships/hyperlink" Target="https://dash.plotly.com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wenlm.github.io/blog/qwen2.5/?utm_source=chatgpt.com" TargetMode="External"/><Relationship Id="rId11" Type="http://schemas.openxmlformats.org/officeDocument/2006/relationships/hyperlink" Target="https://modelcontextprotocol.io/?utm_source=chatgpt.com" TargetMode="External"/><Relationship Id="rId5" Type="http://schemas.openxmlformats.org/officeDocument/2006/relationships/hyperlink" Target="https://github.com/ollama/ollama/tree/main/docs?utm_source=chatgpt.com" TargetMode="External"/><Relationship Id="rId10" Type="http://schemas.openxmlformats.org/officeDocument/2006/relationships/hyperlink" Target="https://www.openadr.org/?utm_source=chatgpt.com" TargetMode="External"/><Relationship Id="rId4" Type="http://schemas.openxmlformats.org/officeDocument/2006/relationships/hyperlink" Target="https://www.honeywell.com/in/en/honeywell-forge?utm_source=chatgpt.com" TargetMode="External"/><Relationship Id="rId9" Type="http://schemas.openxmlformats.org/officeDocument/2006/relationships/hyperlink" Target="https://www.bacnetinternational.org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1203454"/>
            <a:ext cx="1105420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Eco-Loop Building Agent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Building Automation Agent, Industrial AI, Sustainability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 – Raj Kokate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ID- 23BIT0269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77325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773251"/>
            <a:ext cx="12191999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anose="020B0604020202020204" pitchFamily="34" charset="0"/>
                <a:cs typeface="Arial" pitchFamily="34" charset="0"/>
              </a:rPr>
              <a:t>Proposed Solution</a:t>
            </a:r>
            <a:r>
              <a:rPr lang="en-US" sz="3200" b="1" dirty="0">
                <a:latin typeface="Arial" panose="020B0604020202020204" pitchFamily="34" charset="0"/>
                <a:cs typeface="Arial" pitchFamily="34" charset="0"/>
              </a:rPr>
              <a:t> -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Eco-Loop: Autonomous AI-Driven Building Energy Agent</a:t>
            </a: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Eco-Loop is an autonomous AI system that continuously monitors building conditions and optimizes HVAC operations using an LLM,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EnergyPlus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simulations, BACnet controllers, and real-time sensor data.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How it solves the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Continuously monitors HVAC, occupancy and environmental conditions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Predicts energy demand before wastage occurs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Automatically adjusts HVAC setpoints every 15 minutes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Maintains occupant comfort while reducing electricity consumption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Detects equipment anomalies for predictive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Supports natural language interaction for facility managers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Innovation &amp; Uniqueness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Autonomous AI decision-making instead of fixed rule-based control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Multi-agent architecture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Digital Twin using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EnergyPlus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Hardware-in-the-loop BACnet integration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OpenADR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demand response support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Self-correcting AI workflow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E4630-1FD2-B3EC-41C5-5CE8C4161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41744"/>
              </p:ext>
            </p:extLst>
          </p:nvPr>
        </p:nvGraphicFramePr>
        <p:xfrm>
          <a:off x="2032000" y="1775460"/>
          <a:ext cx="8128000" cy="276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297329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24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Programming Language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Python 3.11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75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Qwen2.5 7B Instruct Model using</a:t>
                      </a:r>
                    </a:p>
                    <a:p>
                      <a:pPr algn="l"/>
                      <a:r>
                        <a:rPr lang="en-IN" sz="1800" dirty="0" err="1"/>
                        <a:t>Ollama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64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Simulation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/>
                        <a:t>EnergyPlus</a:t>
                      </a:r>
                      <a:r>
                        <a:rPr lang="en-IN" sz="1800" dirty="0"/>
                        <a:t> 26.1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38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Protocols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BACnet/IP, </a:t>
                      </a:r>
                      <a:r>
                        <a:rPr lang="en-IN" sz="1800" dirty="0" err="1"/>
                        <a:t>OpenADR</a:t>
                      </a:r>
                      <a:r>
                        <a:rPr lang="en-IN" sz="1800" dirty="0"/>
                        <a:t> 2.0b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1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/>
                        <a:t>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 err="1"/>
                        <a:t>Plotly</a:t>
                      </a:r>
                      <a:r>
                        <a:rPr lang="en-IN" sz="1800" dirty="0"/>
                        <a:t> Dash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25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Architecture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Multi-Agent Swarm, MCP (Model Context Protocol)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30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9613" y="1095375"/>
            <a:ext cx="4391983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Feasibility 					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open-source AI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Compatible with existing Honeywell BMS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Works with standard BACnet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Easily scalable across commercial buildings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or on-premise deployment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Sensor data 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Real-time communication delays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 safety in industrial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Hardware compatibility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DA1103C-202A-1F88-3C00-AA848215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1608" y="1097042"/>
            <a:ext cx="4391983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Expected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Around </a:t>
            </a:r>
            <a:r>
              <a:rPr lang="en-IN" b="1" dirty="0"/>
              <a:t>24% energy reduction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occupant comfort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Lower operational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carbon emissions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Predictive maintenance support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Mitigation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Safety guardrails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Rule-based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Human override capability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Fail-safe default HVAC settings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5C93C1C-954A-3823-9DC4-684C36757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93"/>
          <a:stretch>
            <a:fillRect/>
          </a:stretch>
        </p:blipFill>
        <p:spPr>
          <a:xfrm>
            <a:off x="1939069" y="190902"/>
            <a:ext cx="8622262" cy="3238098"/>
          </a:xfrm>
          <a:prstGeom prst="rect">
            <a:avLst/>
          </a:prstGeom>
        </p:spPr>
      </p:pic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5E0F20C-B270-4D4F-6FCD-5170FB9C7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800" y="3482364"/>
            <a:ext cx="4003250" cy="33454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488F1D-F26D-2C3F-2335-FE303DFEE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050" y="3482365"/>
            <a:ext cx="4425950" cy="33756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9BCE36-46F8-90C8-52F2-C354FF023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82364"/>
            <a:ext cx="3762800" cy="334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5FC98-4581-C081-92B9-D4487747C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019799"/>
              </p:ext>
            </p:extLst>
          </p:nvPr>
        </p:nvGraphicFramePr>
        <p:xfrm>
          <a:off x="609600" y="1095375"/>
          <a:ext cx="6863114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31557">
                  <a:extLst>
                    <a:ext uri="{9D8B030D-6E8A-4147-A177-3AD203B41FA5}">
                      <a16:colId xmlns:a16="http://schemas.microsoft.com/office/drawing/2014/main" val="293130365"/>
                    </a:ext>
                  </a:extLst>
                </a:gridCol>
                <a:gridCol w="3431557">
                  <a:extLst>
                    <a:ext uri="{9D8B030D-6E8A-4147-A177-3AD203B41FA5}">
                      <a16:colId xmlns:a16="http://schemas.microsoft.com/office/drawing/2014/main" val="2946274100"/>
                    </a:ext>
                  </a:extLst>
                </a:gridCol>
              </a:tblGrid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Official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784543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EnergyPlus</a:t>
                      </a:r>
                      <a:r>
                        <a:rPr lang="en-IN" dirty="0"/>
                        <a:t>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3"/>
                        </a:rPr>
                        <a:t>https://energyplus.readthedocs.io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106476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Honeywell Forge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4"/>
                        </a:rPr>
                        <a:t>Honeywell Forge Documentation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678672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Ollama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5"/>
                        </a:rPr>
                        <a:t>https://github.com/ollama/ollama/tree/main/docs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191360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Qwen 2.5 Technical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6"/>
                        </a:rPr>
                        <a:t>https://qwenlm.github.io/blog/qwen2.5/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178961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Plotly Dash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7"/>
                        </a:rPr>
                        <a:t>https://dash.plotly.com/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678842"/>
                  </a:ext>
                </a:extLst>
              </a:tr>
              <a:tr h="34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8"/>
                        </a:rPr>
                        <a:t>https://docs.python.org/3/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8041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1CBBDF-D851-FCF0-F2BC-2F796E9BC0A9}"/>
              </a:ext>
            </a:extLst>
          </p:cNvPr>
          <p:cNvSpPr txBox="1"/>
          <p:nvPr/>
        </p:nvSpPr>
        <p:spPr>
          <a:xfrm>
            <a:off x="609599" y="4736300"/>
            <a:ext cx="11582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9"/>
              </a:rPr>
              <a:t>BACnet International Documentation</a:t>
            </a:r>
            <a:endParaRPr lang="en-IN" dirty="0"/>
          </a:p>
          <a:p>
            <a:r>
              <a:rPr lang="en-IN" dirty="0" err="1">
                <a:hlinkClick r:id="rId10"/>
              </a:rPr>
              <a:t>OpenADR</a:t>
            </a:r>
            <a:r>
              <a:rPr lang="en-IN" dirty="0">
                <a:hlinkClick r:id="rId10"/>
              </a:rPr>
              <a:t> Alliance Documentation</a:t>
            </a:r>
            <a:endParaRPr lang="en-IN" dirty="0"/>
          </a:p>
          <a:p>
            <a:r>
              <a:rPr lang="en-IN" dirty="0">
                <a:hlinkClick r:id="rId11"/>
              </a:rPr>
              <a:t>Model Context Protocol (MCP)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7736</TotalTime>
  <Words>400</Words>
  <Application>Microsoft Office PowerPoint</Application>
  <PresentationFormat>Widescreen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Raj Kokate</cp:lastModifiedBy>
  <cp:revision>166</cp:revision>
  <dcterms:created xsi:type="dcterms:W3CDTF">2013-12-12T18:46:50Z</dcterms:created>
  <dcterms:modified xsi:type="dcterms:W3CDTF">2026-07-26T17:11:14Z</dcterms:modified>
  <cp:category/>
</cp:coreProperties>
</file>